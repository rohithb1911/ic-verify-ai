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DE097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77724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800" b="1">
                <a:solidFill>
                  <a:srgbClr val="EFF4F8"/>
                </a:solidFill>
                <a:latin typeface="Aptos Display"/>
              </a:rPr>
              <a:t>IC VERIFY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057400"/>
            <a:ext cx="7955279" cy="10515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0">
                <a:solidFill>
                  <a:srgbClr val="A6B2BE"/>
                </a:solidFill>
                <a:latin typeface="Aptos"/>
              </a:rPr>
              <a:t>AI-Powered Automated Optical Inspection
for IC Marking &amp; Counterfeit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337560"/>
            <a:ext cx="8138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4DE097"/>
                </a:solidFill>
                <a:latin typeface="Aptos"/>
              </a:rPr>
              <a:t>Computer Vision  •  OCR  •  Reference Database  •  Inspection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143000"/>
            <a:ext cx="2423160" cy="4160520"/>
          </a:xfrm>
          <a:prstGeom prst="roundRect">
            <a:avLst/>
          </a:prstGeom>
          <a:solidFill>
            <a:srgbClr val="111820"/>
          </a:solidFill>
          <a:ln>
            <a:solidFill>
              <a:srgbClr val="4AC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0" y="1508760"/>
            <a:ext cx="16459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100" b="1">
                <a:solidFill>
                  <a:srgbClr val="4ACBDC"/>
                </a:solidFill>
                <a:latin typeface="Aptos"/>
              </a:rPr>
              <a:t>AOI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148840"/>
            <a:ext cx="16459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EFF4F8"/>
                </a:solidFill>
                <a:latin typeface="Aptos"/>
              </a:rPr>
              <a:t>IC
INSPECTION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281160" y="3383280"/>
            <a:ext cx="1325880" cy="41148"/>
          </a:xfrm>
          <a:prstGeom prst="rect">
            <a:avLst/>
          </a:prstGeom>
          <a:solidFill>
            <a:srgbClr val="4DE097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81160" y="3794760"/>
            <a:ext cx="1325880" cy="41148"/>
          </a:xfrm>
          <a:prstGeom prst="rect">
            <a:avLst/>
          </a:prstGeom>
          <a:solidFill>
            <a:srgbClr val="4DE097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281160" y="4206240"/>
            <a:ext cx="1325880" cy="41148"/>
          </a:xfrm>
          <a:prstGeom prst="rect">
            <a:avLst/>
          </a:prstGeom>
          <a:solidFill>
            <a:srgbClr val="4DE097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0" y="4800600"/>
            <a:ext cx="1783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A6B2BE"/>
                </a:solidFill>
                <a:latin typeface="Aptos"/>
              </a:rPr>
              <a:t>PROJECT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3200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Mini Project •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6B2BE"/>
                </a:solidFill>
                <a:latin typeface="Aptos"/>
              </a:rPr>
              <a:t>IC VERIFY AI  •  Automated Optical Inspection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6510528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A6B2BE"/>
                </a:solidFill>
                <a:latin typeface="Aptos"/>
              </a:rPr>
              <a:t>Mini Project • Zeroth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48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DE097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EFF4F8"/>
                </a:solidFill>
                <a:latin typeface="Aptos Display"/>
              </a:rPr>
              <a:t>Team &amp; Guidance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868680"/>
            <a:ext cx="914400" cy="32004"/>
          </a:xfrm>
          <a:prstGeom prst="rect">
            <a:avLst/>
          </a:prstGeom>
          <a:solidFill>
            <a:srgbClr val="4DE097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41832"/>
            <a:ext cx="10058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Project ownership and academic supervision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160520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4389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DE097"/>
                </a:solidFill>
                <a:latin typeface="Aptos"/>
              </a:rPr>
              <a:t>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206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EFF4F8"/>
                </a:solidFill>
                <a:latin typeface="Aptos"/>
              </a:rPr>
              <a:t>01  Rohith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6B2BE"/>
                </a:solidFill>
                <a:latin typeface="Aptos"/>
              </a:rPr>
              <a:t>B.E. Computer Science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29000"/>
            <a:ext cx="2406556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dirty="0">
                <a:solidFill>
                  <a:srgbClr val="EFF4F8"/>
                </a:solidFill>
                <a:latin typeface="Aptos"/>
              </a:rPr>
              <a:t>02  </a:t>
            </a:r>
            <a:r>
              <a:rPr lang="en-IN" sz="2000" b="1" dirty="0">
                <a:solidFill>
                  <a:srgbClr val="EFF4F8"/>
                </a:solidFill>
                <a:latin typeface="Aptos"/>
              </a:rPr>
              <a:t>Naveenkumar K</a:t>
            </a:r>
            <a:endParaRPr sz="2000" b="1" dirty="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4069080"/>
            <a:ext cx="2160913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dirty="0">
                <a:solidFill>
                  <a:srgbClr val="EFF4F8"/>
                </a:solidFill>
                <a:latin typeface="Aptos"/>
              </a:rPr>
              <a:t>03  </a:t>
            </a:r>
            <a:r>
              <a:rPr lang="en-IN" sz="2000" b="1" dirty="0">
                <a:solidFill>
                  <a:srgbClr val="EFF4F8"/>
                </a:solidFill>
                <a:latin typeface="Aptos"/>
              </a:rPr>
              <a:t>Premkumar G</a:t>
            </a:r>
            <a:endParaRPr sz="2000" b="1" dirty="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212080" cy="4160520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737360"/>
            <a:ext cx="4389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ACBDC"/>
                </a:solidFill>
                <a:latin typeface="Aptos"/>
              </a:rPr>
              <a:t>GUIDE / MENTOR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1656928" cy="4154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IN" sz="2100" b="1" dirty="0">
                <a:solidFill>
                  <a:srgbClr val="EFF4F8"/>
                </a:solidFill>
                <a:latin typeface="Aptos"/>
              </a:rPr>
              <a:t>Ms. </a:t>
            </a:r>
            <a:r>
              <a:rPr lang="en-IN" sz="2100" b="1" dirty="0" err="1">
                <a:solidFill>
                  <a:srgbClr val="EFF4F8"/>
                </a:solidFill>
                <a:latin typeface="Aptos"/>
              </a:rPr>
              <a:t>P.Kohila</a:t>
            </a:r>
            <a:endParaRPr sz="2100" b="1" dirty="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37960" y="2880360"/>
            <a:ext cx="362394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IN" sz="1200" b="0" dirty="0">
                <a:solidFill>
                  <a:srgbClr val="A6B2BE"/>
                </a:solidFill>
                <a:latin typeface="Aptos"/>
              </a:rPr>
              <a:t>AP/</a:t>
            </a:r>
            <a:r>
              <a:rPr sz="1200" b="0" dirty="0">
                <a:solidFill>
                  <a:srgbClr val="A6B2BE"/>
                </a:solidFill>
                <a:latin typeface="Aptos"/>
              </a:rPr>
              <a:t>Department of Computer Science &amp;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03320"/>
            <a:ext cx="4297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Institution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069080"/>
            <a:ext cx="4597734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IN" sz="1600" b="1" dirty="0">
                <a:solidFill>
                  <a:srgbClr val="EFF4F8"/>
                </a:solidFill>
                <a:latin typeface="Aptos"/>
              </a:rPr>
              <a:t>V.S.B. College of Engineering Technical Campus</a:t>
            </a:r>
            <a:endParaRPr sz="1600" b="1" dirty="0">
              <a:solidFill>
                <a:srgbClr val="EFF4F8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6B2BE"/>
                </a:solidFill>
                <a:latin typeface="Aptos"/>
              </a:rPr>
              <a:t>IC VERIFY AI  •  Automated Optical Inspection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6510528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A6B2BE"/>
                </a:solidFill>
                <a:latin typeface="Aptos"/>
              </a:rPr>
              <a:t>Mini Project • Zeroth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48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DE097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EFF4F8"/>
                </a:solidFill>
                <a:latin typeface="Aptos Display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868680"/>
            <a:ext cx="914400" cy="32004"/>
          </a:xfrm>
          <a:prstGeom prst="rect">
            <a:avLst/>
          </a:prstGeom>
          <a:solidFill>
            <a:srgbClr val="4DE097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41832"/>
            <a:ext cx="10058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Why reliable IC marking verification is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6903720" cy="4526280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4572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56060"/>
                </a:solidFill>
                <a:latin typeface="Aptos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6126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FF4F8"/>
                </a:solidFill>
                <a:latin typeface="Aptos"/>
              </a:defRPr>
            </a:pPr>
            <a:r>
              <a:t>• Counterfeit and remarked ICs can enter electronics supply chains with visually similar markings.</a:t>
            </a:r>
          </a:p>
          <a:p>
            <a:pPr>
              <a:spcAft>
                <a:spcPts val="1000"/>
              </a:spcAft>
              <a:defRPr sz="1700">
                <a:solidFill>
                  <a:srgbClr val="EFF4F8"/>
                </a:solidFill>
                <a:latin typeface="Aptos"/>
              </a:defRPr>
            </a:pPr>
            <a:r>
              <a:t>• Manual inspection is slow, subjective and difficult to scale for high-volume screening.</a:t>
            </a:r>
          </a:p>
          <a:p>
            <a:pPr>
              <a:spcAft>
                <a:spcPts val="1000"/>
              </a:spcAft>
              <a:defRPr sz="1700">
                <a:solidFill>
                  <a:srgbClr val="EFF4F8"/>
                </a:solidFill>
                <a:latin typeface="Aptos"/>
              </a:defRPr>
            </a:pPr>
            <a:r>
              <a:t>• Tiny differences in part numbers, logos, fonts, package outlines and surface defects may be missed.</a:t>
            </a:r>
          </a:p>
          <a:p>
            <a:pPr>
              <a:spcAft>
                <a:spcPts val="1000"/>
              </a:spcAft>
              <a:defRPr sz="1700">
                <a:solidFill>
                  <a:srgbClr val="EFF4F8"/>
                </a:solidFill>
                <a:latin typeface="Aptos"/>
              </a:defRPr>
            </a:pPr>
            <a:r>
              <a:t>• A practical solution should combine image processing, text recognition and reference-data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474720" cy="4526280"/>
          </a:xfrm>
          <a:prstGeom prst="roundRect">
            <a:avLst/>
          </a:prstGeom>
          <a:solidFill>
            <a:srgbClr val="161F29"/>
          </a:solidFill>
          <a:ln>
            <a:solidFill>
              <a:srgbClr val="161F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1783080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DE097"/>
                </a:solidFill>
                <a:latin typeface="Aptos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331720"/>
            <a:ext cx="256032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FF4F8"/>
                </a:solidFill>
                <a:latin typeface="Aptos"/>
              </a:rPr>
              <a:t>Detect
• Fake markings
• Remarked parts
• Surface defects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069080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ACBDC"/>
                </a:solidFill>
                <a:latin typeface="Aptos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526280"/>
            <a:ext cx="265176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A6B2BE"/>
                </a:solidFill>
                <a:latin typeface="Aptos"/>
              </a:rPr>
              <a:t>Genuine / Counterfeit
with confidence indicators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6B2BE"/>
                </a:solidFill>
                <a:latin typeface="Aptos"/>
              </a:rPr>
              <a:t>IC VERIFY AI  •  Automated Optical Inspection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6510528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A6B2BE"/>
                </a:solidFill>
                <a:latin typeface="Aptos"/>
              </a:rPr>
              <a:t>Mini Project • Zeroth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48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DE097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EFF4F8"/>
                </a:solidFill>
                <a:latin typeface="Aptos Display"/>
              </a:rPr>
              <a:t>Existing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868680"/>
            <a:ext cx="914400" cy="32004"/>
          </a:xfrm>
          <a:prstGeom prst="rect">
            <a:avLst/>
          </a:prstGeom>
          <a:solidFill>
            <a:srgbClr val="4DE097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41832"/>
            <a:ext cx="10058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Current approaches and their limitations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514600" cy="4251960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DE09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0574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EFF4F8"/>
                </a:solidFill>
                <a:latin typeface="Aptos"/>
              </a:rPr>
              <a:t>Manual Visual 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057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A6B2BE"/>
                </a:solidFill>
                <a:latin typeface="Aptos"/>
              </a:defRPr>
            </a:pPr>
            <a:r>
              <a:t>• Human operator checks markings and package</a:t>
            </a:r>
          </a:p>
          <a:p>
            <a:pPr>
              <a:spcAft>
                <a:spcPts val="1000"/>
              </a:spcAft>
              <a:defRPr sz="1300">
                <a:solidFill>
                  <a:srgbClr val="A6B2BE"/>
                </a:solidFill>
                <a:latin typeface="Aptos"/>
              </a:defRPr>
            </a:pPr>
            <a:r>
              <a:t>• Slow and inconsistent at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508760"/>
            <a:ext cx="2514600" cy="4251960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67328" y="178308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DE09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148840"/>
            <a:ext cx="20574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EFF4F8"/>
                </a:solidFill>
                <a:latin typeface="Aptos"/>
              </a:rPr>
              <a:t>OCR-Only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3063240"/>
            <a:ext cx="2057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A6B2BE"/>
                </a:solidFill>
                <a:latin typeface="Aptos"/>
              </a:defRPr>
            </a:pPr>
            <a:r>
              <a:t>• Extract printed characters</a:t>
            </a:r>
          </a:p>
          <a:p>
            <a:pPr>
              <a:spcAft>
                <a:spcPts val="1000"/>
              </a:spcAft>
              <a:defRPr sz="1300">
                <a:solidFill>
                  <a:srgbClr val="A6B2BE"/>
                </a:solidFill>
                <a:latin typeface="Aptos"/>
              </a:defRPr>
            </a:pPr>
            <a:r>
              <a:t>• May miss logo, font and surface anomalies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656" y="1508760"/>
            <a:ext cx="2514600" cy="4251960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0256" y="178308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DE097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2148840"/>
            <a:ext cx="20574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EFF4F8"/>
                </a:solidFill>
                <a:latin typeface="Aptos"/>
              </a:rPr>
              <a:t>Basic Image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3063240"/>
            <a:ext cx="2057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A6B2BE"/>
                </a:solidFill>
                <a:latin typeface="Aptos"/>
              </a:defRPr>
            </a:pPr>
            <a:r>
              <a:t>• Thresholding / contour-based inspection</a:t>
            </a:r>
          </a:p>
          <a:p>
            <a:pPr>
              <a:spcAft>
                <a:spcPts val="1000"/>
              </a:spcAft>
              <a:defRPr sz="1300">
                <a:solidFill>
                  <a:srgbClr val="A6B2BE"/>
                </a:solidFill>
                <a:latin typeface="Aptos"/>
              </a:defRPr>
            </a:pPr>
            <a:r>
              <a:t>• Limited contextual 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44584" y="1508760"/>
            <a:ext cx="2514600" cy="4251960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73184" y="178308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DE097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2148840"/>
            <a:ext cx="20574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EFF4F8"/>
                </a:solidFill>
                <a:latin typeface="Aptos"/>
              </a:rPr>
              <a:t>Reference Lookup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3184" y="3063240"/>
            <a:ext cx="2057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A6B2BE"/>
                </a:solidFill>
                <a:latin typeface="Aptos"/>
              </a:defRPr>
            </a:pPr>
            <a:r>
              <a:t>• Compare part number with a database</a:t>
            </a:r>
          </a:p>
          <a:p>
            <a:pPr>
              <a:spcAft>
                <a:spcPts val="1000"/>
              </a:spcAft>
              <a:defRPr sz="1300">
                <a:solidFill>
                  <a:srgbClr val="A6B2BE"/>
                </a:solidFill>
                <a:latin typeface="Aptos"/>
              </a:defRPr>
            </a:pPr>
            <a:r>
              <a:t>• Does not alone prove physical authenticity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6B2BE"/>
                </a:solidFill>
                <a:latin typeface="Aptos"/>
              </a:rPr>
              <a:t>IC VERIFY AI  •  Automated Optical Inspection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510528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A6B2BE"/>
                </a:solidFill>
                <a:latin typeface="Aptos"/>
              </a:rPr>
              <a:t>Mini Project • Zeroth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48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DE097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EFF4F8"/>
                </a:solidFill>
                <a:latin typeface="Aptos Display"/>
              </a:rPr>
              <a:t>Proposed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868680"/>
            <a:ext cx="914400" cy="32004"/>
          </a:xfrm>
          <a:prstGeom prst="rect">
            <a:avLst/>
          </a:prstGeom>
          <a:solidFill>
            <a:srgbClr val="4DE097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41832"/>
            <a:ext cx="10058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IC Verify AI — integrated automated inspection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965960" cy="3063240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05740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DE09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14600"/>
            <a:ext cx="1600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EFF4F8"/>
                </a:solidFill>
                <a:latin typeface="Aptos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246120"/>
            <a:ext cx="16002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A6B2BE"/>
                </a:solidFill>
                <a:latin typeface="Aptos"/>
              </a:rPr>
              <a:t>IC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971800"/>
            <a:ext cx="274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4ACBDC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828800"/>
            <a:ext cx="1965960" cy="3063240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40" y="205740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DE09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14600"/>
            <a:ext cx="1600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EFF4F8"/>
                </a:solidFill>
                <a:latin typeface="Aptos"/>
              </a:rP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246120"/>
            <a:ext cx="16002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A6B2BE"/>
                </a:solidFill>
                <a:latin typeface="Aptos"/>
              </a:rPr>
              <a:t>Gray + denoise
+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2971800"/>
            <a:ext cx="274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4ACBD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2936" y="1828800"/>
            <a:ext cx="1965960" cy="3063240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67528" y="205740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DE097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2514600"/>
            <a:ext cx="1600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EFF4F8"/>
                </a:solidFill>
                <a:latin typeface="Aptos"/>
              </a:rPr>
              <a:t>DETECT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3246120"/>
            <a:ext cx="16002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A6B2BE"/>
                </a:solidFill>
                <a:latin typeface="Aptos"/>
              </a:rPr>
              <a:t>IC region,
text &amp;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4616" y="2971800"/>
            <a:ext cx="274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4ACBD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07224" y="1828800"/>
            <a:ext cx="1965960" cy="3063240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71816" y="205740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DE097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6" y="2514600"/>
            <a:ext cx="1600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EFF4F8"/>
                </a:solidFill>
                <a:latin typeface="Aptos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1816" y="3246120"/>
            <a:ext cx="16002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A6B2BE"/>
                </a:solidFill>
                <a:latin typeface="Aptos"/>
              </a:rPr>
              <a:t>OCR + reference
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971800"/>
            <a:ext cx="274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4ACBDC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11512" y="1828800"/>
            <a:ext cx="1965960" cy="3063240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76104" y="205740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DE097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76104" y="2514600"/>
            <a:ext cx="1600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EFF4F8"/>
                </a:solidFill>
                <a:latin typeface="Aptos"/>
              </a:rP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3246120"/>
            <a:ext cx="16002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A6B2BE"/>
                </a:solidFill>
                <a:latin typeface="Aptos"/>
              </a:rPr>
              <a:t>Risk score +
inspection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49240"/>
            <a:ext cx="10789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4DE097"/>
                </a:solidFill>
                <a:latin typeface="Aptos"/>
              </a:rPr>
              <a:t>Core stack: React + Vite  |  FastAPI + Python  |  OpenCV  |  OCR/marking analysis  |  SQLite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6B2BE"/>
                </a:solidFill>
                <a:latin typeface="Aptos"/>
              </a:rPr>
              <a:t>IC VERIFY AI  •  Automated Optical Inspection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510528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A6B2BE"/>
                </a:solidFill>
                <a:latin typeface="Aptos"/>
              </a:rPr>
              <a:t>Mini Project • Zeroth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48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DE097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EFF4F8"/>
                </a:solidFill>
                <a:latin typeface="Aptos Display"/>
              </a:rPr>
              <a:t>Supporting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868680"/>
            <a:ext cx="914400" cy="32004"/>
          </a:xfrm>
          <a:prstGeom prst="rect">
            <a:avLst/>
          </a:prstGeom>
          <a:solidFill>
            <a:srgbClr val="4DE097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41832"/>
            <a:ext cx="10058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Technical architecture, inspection stages and stored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657600" cy="4892040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3017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ACBDC"/>
                </a:solidFill>
                <a:latin typeface="Aptos"/>
              </a:rPr>
              <a:t>SYSTEM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57400"/>
            <a:ext cx="3063240" cy="521207"/>
          </a:xfrm>
          <a:prstGeom prst="roundRect">
            <a:avLst/>
          </a:prstGeom>
          <a:solidFill>
            <a:srgbClr val="161F29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148840"/>
            <a:ext cx="10515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DE097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148840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EFF4F8"/>
                </a:solidFill>
                <a:latin typeface="Aptos"/>
              </a:rPr>
              <a:t>React / Vite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70632"/>
            <a:ext cx="3063240" cy="521207"/>
          </a:xfrm>
          <a:prstGeom prst="roundRect">
            <a:avLst/>
          </a:prstGeom>
          <a:solidFill>
            <a:srgbClr val="161F29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2862072"/>
            <a:ext cx="10515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DE097"/>
                </a:solidFill>
                <a:latin typeface="Aptos"/>
              </a:rPr>
              <a:t>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862072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EFF4F8"/>
                </a:solidFill>
                <a:latin typeface="Aptos"/>
              </a:rPr>
              <a:t>FastAPI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83864"/>
            <a:ext cx="3063240" cy="521207"/>
          </a:xfrm>
          <a:prstGeom prst="roundRect">
            <a:avLst/>
          </a:prstGeom>
          <a:solidFill>
            <a:srgbClr val="161F29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575304"/>
            <a:ext cx="10515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DE097"/>
                </a:solidFill>
                <a:latin typeface="Aptos"/>
              </a:rPr>
              <a:t>CV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575304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EFF4F8"/>
                </a:solidFill>
                <a:latin typeface="Aptos"/>
              </a:rPr>
              <a:t>OpenCV preprocessing &amp; contours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97096"/>
            <a:ext cx="3063240" cy="521207"/>
          </a:xfrm>
          <a:prstGeom prst="roundRect">
            <a:avLst/>
          </a:prstGeom>
          <a:solidFill>
            <a:srgbClr val="161F29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4288536"/>
            <a:ext cx="10515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DE097"/>
                </a:solidFill>
                <a:latin typeface="Aptos"/>
              </a:rPr>
              <a:t>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288536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EFF4F8"/>
                </a:solidFill>
                <a:latin typeface="Aptos"/>
              </a:rPr>
              <a:t>OCR + marking parser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910328"/>
            <a:ext cx="3063240" cy="521207"/>
          </a:xfrm>
          <a:prstGeom prst="roundRect">
            <a:avLst/>
          </a:prstGeom>
          <a:solidFill>
            <a:srgbClr val="161F29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5001768"/>
            <a:ext cx="10515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DE097"/>
                </a:solidFill>
                <a:latin typeface="Aptos"/>
              </a:rP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01768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EFF4F8"/>
                </a:solidFill>
                <a:latin typeface="Aptos"/>
              </a:rPr>
              <a:t>SQLite reference + history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1463040"/>
            <a:ext cx="2971800" cy="1920240"/>
          </a:xfrm>
          <a:prstGeom prst="roundRect">
            <a:avLst/>
          </a:prstGeom>
          <a:solidFill>
            <a:srgbClr val="161F29"/>
          </a:solidFill>
          <a:ln>
            <a:solidFill>
              <a:srgbClr val="161F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c_17838619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572768"/>
            <a:ext cx="2752344" cy="14813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54880" y="3090672"/>
            <a:ext cx="2560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A6B2BE"/>
                </a:solidFill>
                <a:latin typeface="Aptos"/>
              </a:rPr>
              <a:t>RAW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1463040"/>
            <a:ext cx="2971800" cy="1920240"/>
          </a:xfrm>
          <a:prstGeom prst="roundRect">
            <a:avLst/>
          </a:prstGeom>
          <a:solidFill>
            <a:srgbClr val="161F29"/>
          </a:solidFill>
          <a:ln>
            <a:solidFill>
              <a:srgbClr val="161F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c_1783861964_process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7" y="1572768"/>
            <a:ext cx="2752344" cy="14813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092440" y="3090672"/>
            <a:ext cx="2560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A6B2BE"/>
                </a:solidFill>
                <a:latin typeface="Aptos"/>
              </a:rPr>
              <a:t>PREPROCESSED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3703320"/>
            <a:ext cx="2971800" cy="1920240"/>
          </a:xfrm>
          <a:prstGeom prst="roundRect">
            <a:avLst/>
          </a:prstGeom>
          <a:solidFill>
            <a:srgbClr val="161F29"/>
          </a:solidFill>
          <a:ln>
            <a:solidFill>
              <a:srgbClr val="161F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c_1783861964_bbo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3813048"/>
            <a:ext cx="2752344" cy="14813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54880" y="5330952"/>
            <a:ext cx="2560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A6B2BE"/>
                </a:solidFill>
                <a:latin typeface="Aptos"/>
              </a:rPr>
              <a:t>DETECTION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3703320"/>
            <a:ext cx="2971800" cy="1920240"/>
          </a:xfrm>
          <a:prstGeom prst="roundRect">
            <a:avLst/>
          </a:prstGeom>
          <a:solidFill>
            <a:srgbClr val="161F29"/>
          </a:solidFill>
          <a:ln>
            <a:solidFill>
              <a:srgbClr val="161F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c_1783861964_defec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7" y="3813048"/>
            <a:ext cx="2752344" cy="14813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92440" y="5330952"/>
            <a:ext cx="2560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A6B2BE"/>
                </a:solidFill>
                <a:latin typeface="Aptos"/>
              </a:rPr>
              <a:t>DEFECT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6B2BE"/>
                </a:solidFill>
                <a:latin typeface="Aptos"/>
              </a:rPr>
              <a:t>IC VERIFY AI  •  Automated Optical Inspection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510528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A6B2BE"/>
                </a:solidFill>
                <a:latin typeface="Aptos"/>
              </a:rPr>
              <a:t>Mini Project • Zeroth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48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DE097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EFF4F8"/>
                </a:solidFill>
                <a:latin typeface="Aptos Display"/>
              </a:rPr>
              <a:t>Problem Statement →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868680"/>
            <a:ext cx="914400" cy="32004"/>
          </a:xfrm>
          <a:prstGeom prst="rect">
            <a:avLst/>
          </a:prstGeom>
          <a:solidFill>
            <a:srgbClr val="4DE097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41832"/>
            <a:ext cx="10058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How the proposed system addresses the identified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0972800" cy="5074920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788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DE097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600200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DE097"/>
                </a:solidFill>
                <a:latin typeface="Aptos"/>
              </a:rPr>
              <a:t>PROPOSED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600200"/>
            <a:ext cx="4251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DE097"/>
                </a:solidFill>
                <a:latin typeface="Aptos"/>
              </a:rPr>
              <a:t>BENEFIT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057400"/>
            <a:ext cx="10378440" cy="585216"/>
          </a:xfrm>
          <a:prstGeom prst="roundRect">
            <a:avLst/>
          </a:prstGeom>
          <a:solidFill>
            <a:srgbClr val="161F29"/>
          </a:solidFill>
          <a:ln>
            <a:solidFill>
              <a:srgbClr val="161F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203704"/>
            <a:ext cx="25146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EFF4F8"/>
                </a:solidFill>
                <a:latin typeface="Aptos"/>
              </a:rPr>
              <a:t>Counterfeit markings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203704"/>
            <a:ext cx="2697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ACBDC"/>
                </a:solidFill>
                <a:latin typeface="Aptos"/>
              </a:rPr>
              <a:t>CV + OCR + pattern parsing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167128"/>
            <a:ext cx="379476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Identify likely part number, date code and batch marking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807208"/>
            <a:ext cx="10378440" cy="585216"/>
          </a:xfrm>
          <a:prstGeom prst="roundRect">
            <a:avLst/>
          </a:prstGeom>
          <a:solidFill>
            <a:srgbClr val="161F29"/>
          </a:solidFill>
          <a:ln>
            <a:solidFill>
              <a:srgbClr val="161F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953512"/>
            <a:ext cx="25146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EFF4F8"/>
                </a:solidFill>
                <a:latin typeface="Aptos"/>
              </a:rPr>
              <a:t>Logo / font mismatch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953512"/>
            <a:ext cx="2697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ACBDC"/>
                </a:solidFill>
                <a:latin typeface="Aptos"/>
              </a:rPr>
              <a:t>Reference attributes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916936"/>
            <a:ext cx="379476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Compare expected manufacturer/package marking characteristics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557015"/>
            <a:ext cx="10378440" cy="585216"/>
          </a:xfrm>
          <a:prstGeom prst="roundRect">
            <a:avLst/>
          </a:prstGeom>
          <a:solidFill>
            <a:srgbClr val="161F29"/>
          </a:solidFill>
          <a:ln>
            <a:solidFill>
              <a:srgbClr val="161F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703320"/>
            <a:ext cx="25146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EFF4F8"/>
                </a:solidFill>
                <a:latin typeface="Aptos"/>
              </a:rPr>
              <a:t>Surface defects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703320"/>
            <a:ext cx="2697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ACBDC"/>
                </a:solidFill>
                <a:latin typeface="Aptos"/>
              </a:rPr>
              <a:t>Contour-based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666744"/>
            <a:ext cx="379476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Highlight scratches and abnormal surface regions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306824"/>
            <a:ext cx="10378440" cy="585216"/>
          </a:xfrm>
          <a:prstGeom prst="roundRect">
            <a:avLst/>
          </a:prstGeom>
          <a:solidFill>
            <a:srgbClr val="161F29"/>
          </a:solidFill>
          <a:ln>
            <a:solidFill>
              <a:srgbClr val="161F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453128"/>
            <a:ext cx="25146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EFF4F8"/>
                </a:solidFill>
                <a:latin typeface="Aptos"/>
              </a:rPr>
              <a:t>Slow manual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4453128"/>
            <a:ext cx="2697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ACBDC"/>
                </a:solidFill>
                <a:latin typeface="Aptos"/>
              </a:rPr>
              <a:t>Automated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416552"/>
            <a:ext cx="379476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Produce repeatable inspection evidence in seconds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056631"/>
            <a:ext cx="10378440" cy="585216"/>
          </a:xfrm>
          <a:prstGeom prst="roundRect">
            <a:avLst/>
          </a:prstGeom>
          <a:solidFill>
            <a:srgbClr val="161F29"/>
          </a:solidFill>
          <a:ln>
            <a:solidFill>
              <a:srgbClr val="161F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5202936"/>
            <a:ext cx="25146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EFF4F8"/>
                </a:solidFill>
                <a:latin typeface="Aptos"/>
              </a:rPr>
              <a:t>Traceability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5202936"/>
            <a:ext cx="2697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ACBDC"/>
                </a:solidFill>
                <a:latin typeface="Aptos"/>
              </a:rPr>
              <a:t>SQLite inspection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166359"/>
            <a:ext cx="379476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Store results, confidence metrics and final 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6B2BE"/>
                </a:solidFill>
                <a:latin typeface="Aptos"/>
              </a:rPr>
              <a:t>IC VERIFY AI  •  Automated Optical Inspection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510528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A6B2BE"/>
                </a:solidFill>
                <a:latin typeface="Aptos"/>
              </a:rPr>
              <a:t>Mini Project • Zeroth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48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DE097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EFF4F8"/>
                </a:solidFill>
                <a:latin typeface="Aptos Display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868680"/>
            <a:ext cx="914400" cy="32004"/>
          </a:xfrm>
          <a:prstGeom prst="rect">
            <a:avLst/>
          </a:prstGeom>
          <a:solidFill>
            <a:srgbClr val="4DE097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41832"/>
            <a:ext cx="10058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Technical foundations and project 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652760" cy="621792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DE09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27048"/>
            <a:ext cx="2651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EFF4F8"/>
                </a:solidFill>
                <a:latin typeface="Aptos"/>
              </a:rPr>
              <a:t>OpenCV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527048"/>
            <a:ext cx="512064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Computer vision, image preprocessing and contour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581912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4ACBDC"/>
                </a:solidFill>
                <a:latin typeface="Aptos"/>
              </a:rPr>
              <a:t>opencv.org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258568"/>
            <a:ext cx="10652760" cy="621792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423160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DE09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68296"/>
            <a:ext cx="2651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EFF4F8"/>
                </a:solidFill>
                <a:latin typeface="Aptos"/>
              </a:rPr>
              <a:t>FastAPI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68296"/>
            <a:ext cx="512064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Python API framework used for backend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242316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4ACBDC"/>
                </a:solidFill>
                <a:latin typeface="Aptos"/>
              </a:rPr>
              <a:t>fastapi.tiangolo.com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099816"/>
            <a:ext cx="10652760" cy="621792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264408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DE097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209544"/>
            <a:ext cx="2651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EFF4F8"/>
                </a:solidFill>
                <a:latin typeface="Aptos"/>
              </a:rPr>
              <a:t>React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209544"/>
            <a:ext cx="512064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Frontend component architecture and UI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264408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4ACBDC"/>
                </a:solidFill>
                <a:latin typeface="Aptos"/>
              </a:rPr>
              <a:t>react.dev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41064"/>
            <a:ext cx="10652760" cy="621792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105656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DE097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050792"/>
            <a:ext cx="2651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EFF4F8"/>
                </a:solidFill>
                <a:latin typeface="Aptos"/>
              </a:rPr>
              <a:t>Vite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050792"/>
            <a:ext cx="512064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Development server and frontend build tooling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4105656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4ACBDC"/>
                </a:solidFill>
                <a:latin typeface="Aptos"/>
              </a:rPr>
              <a:t>vite.dev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782312"/>
            <a:ext cx="10652760" cy="621792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946904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DE097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892040"/>
            <a:ext cx="2651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EFF4F8"/>
                </a:solidFill>
                <a:latin typeface="Aptos"/>
              </a:rPr>
              <a:t>Smart India Hackathon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4892040"/>
            <a:ext cx="512064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Project context and innovation ecosystem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4946904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4ACBDC"/>
                </a:solidFill>
                <a:latin typeface="Aptos"/>
              </a:rPr>
              <a:t>sih.gov.in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06440"/>
            <a:ext cx="10424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0">
                <a:solidFill>
                  <a:srgbClr val="A6B2BE"/>
                </a:solidFill>
                <a:latin typeface="Aptos"/>
              </a:rPr>
              <a:t>Note: Replace / add references required by your department’s review format.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6B2BE"/>
                </a:solidFill>
                <a:latin typeface="Aptos"/>
              </a:rPr>
              <a:t>IC VERIFY AI  •  Automated Optical Inspection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6510528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A6B2BE"/>
                </a:solidFill>
                <a:latin typeface="Aptos"/>
              </a:rPr>
              <a:t>Mini Project • Zeroth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48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DE097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EFF4F8"/>
                </a:solidFill>
                <a:latin typeface="Aptos Display"/>
              </a:rPr>
              <a:t>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868680"/>
            <a:ext cx="914400" cy="32004"/>
          </a:xfrm>
          <a:prstGeom prst="rect">
            <a:avLst/>
          </a:prstGeom>
          <a:solidFill>
            <a:srgbClr val="4DE097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41832"/>
            <a:ext cx="10058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2BE"/>
                </a:solidFill>
                <a:latin typeface="Aptos"/>
              </a:rPr>
              <a:t>Questions, suggestions and review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10332720" cy="4434840"/>
          </a:xfrm>
          <a:prstGeom prst="roundRect">
            <a:avLst/>
          </a:prstGeom>
          <a:solidFill>
            <a:srgbClr val="111820"/>
          </a:solidFill>
          <a:ln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600" b="1">
                <a:solidFill>
                  <a:srgbClr val="4DE097"/>
                </a:solidFill>
                <a:latin typeface="Aptos"/>
              </a:rPr>
              <a:t>Q &amp;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0">
                <a:solidFill>
                  <a:srgbClr val="EFF4F8"/>
                </a:solidFill>
                <a:latin typeface="Aptos"/>
              </a:rPr>
              <a:t>We welcome your questions and suggestions.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103327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A6B2BE"/>
                </a:solidFill>
                <a:latin typeface="Aptos"/>
              </a:rPr>
              <a:t>Project scope  •  Technical approach  •  Accuracy  •  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103327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4ACBDC"/>
                </a:solidFill>
                <a:latin typeface="Aptos"/>
              </a:rPr>
              <a:t>IC VERIFY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6B2BE"/>
                </a:solidFill>
                <a:latin typeface="Aptos"/>
              </a:rPr>
              <a:t>IC VERIFY AI  •  Automated Optical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10528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A6B2BE"/>
                </a:solidFill>
                <a:latin typeface="Aptos"/>
              </a:rPr>
              <a:t>Mini Project • Zeroth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DE097"/>
          </a:solidFill>
          <a:ln>
            <a:solidFill>
              <a:srgbClr val="4D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 b="1">
                <a:solidFill>
                  <a:srgbClr val="EFF4F8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10698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900" b="1">
                <a:solidFill>
                  <a:srgbClr val="4DE097"/>
                </a:solidFill>
                <a:latin typeface="Aptos"/>
              </a:rPr>
              <a:t>IC VERIFY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0">
                <a:solidFill>
                  <a:srgbClr val="A6B2BE"/>
                </a:solidFill>
                <a:latin typeface="Aptos"/>
              </a:rPr>
              <a:t>Automated Optical Inspection for IC Marking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4ACBDC"/>
                </a:solidFill>
                <a:latin typeface="Aptos"/>
              </a:rPr>
              <a:t>Questions • Feedback • Suggestions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0">
                <a:solidFill>
                  <a:srgbClr val="A6B2BE"/>
                </a:solidFill>
                <a:latin typeface="Aptos"/>
              </a:rPr>
              <a:t>Mini Project — Zeroth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703</Words>
  <Application>Microsoft Office PowerPoint</Application>
  <PresentationFormat>Widescreen</PresentationFormat>
  <Paragraphs>167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rohithbalasubramaniam2006@gmail.com</cp:lastModifiedBy>
  <cp:revision>2</cp:revision>
  <dcterms:created xsi:type="dcterms:W3CDTF">2013-01-27T09:14:16Z</dcterms:created>
  <dcterms:modified xsi:type="dcterms:W3CDTF">2026-09-12T04:43:14Z</dcterms:modified>
  <cp:category/>
</cp:coreProperties>
</file>